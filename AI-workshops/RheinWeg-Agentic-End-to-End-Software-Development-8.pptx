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embeddedFontLs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Space Grotesk" pitchFamily="2" charset="7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89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69d3dd8-a707-41d6-b2c9-b8bc68ade62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cs-bloom_v2-cover-a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686800" y="2390775"/>
            <a:ext cx="5715000" cy="5715000"/>
          </a:xfrm>
          <a:prstGeom prst="rect">
            <a:avLst/>
          </a:prstGeom>
        </p:spPr>
      </p:pic>
      <p:sp>
        <p:nvSpPr>
          <p:cNvPr id="5" name="cs-bloom_v2-cover-d"/>
          <p:cNvSpPr/>
          <p:nvPr/>
        </p:nvSpPr>
        <p:spPr>
          <a:xfrm>
            <a:off x="0" y="7715250"/>
            <a:ext cx="18288000" cy="2571750"/>
          </a:xfrm>
          <a:prstGeom prst="rect">
            <a:avLst/>
          </a:prstGeom>
          <a:gradFill>
            <a:gsLst>
              <a:gs pos="10000">
                <a:srgbClr val="ED7D3E">
                  <a:alpha val="20000"/>
                </a:srgbClr>
              </a:gs>
              <a:gs pos="65000">
                <a:srgbClr val="5B3DF5">
                  <a:alpha val="20000"/>
                </a:srgbClr>
              </a:gs>
              <a:gs pos="85000">
                <a:srgbClr val="BD3DF5">
                  <a:alpha val="20000"/>
                </a:srgbClr>
              </a:gs>
              <a:gs pos="100000">
                <a:srgbClr val="BD3DF5">
                  <a:alpha val="20000"/>
                </a:srgbClr>
              </a:gs>
            </a:gsLst>
            <a:lin ang="6600000" scaled="0"/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image-diagram-HnYEU5-0"/>
          <p:cNvSpPr/>
          <p:nvPr/>
        </p:nvSpPr>
        <p:spPr>
          <a:xfrm>
            <a:off x="914400" y="914400"/>
            <a:ext cx="7258050" cy="8429625"/>
          </a:xfrm>
          <a:custGeom>
            <a:avLst/>
            <a:gdLst/>
            <a:ahLst/>
            <a:cxnLst/>
            <a:rect l="0" t="0" r="7258050" b="8429625"/>
            <a:pathLst>
              <a:path w="7258050" h="8429625">
                <a:moveTo>
                  <a:pt x="228629" y="0"/>
                </a:moveTo>
                <a:lnTo>
                  <a:pt x="4781531" y="0"/>
                </a:lnTo>
                <a:arcTo wR="2476519" hR="2476519" stAng="16200000" swAng="5400000"/>
                <a:lnTo>
                  <a:pt x="7258050" y="8200996"/>
                </a:lnTo>
                <a:arcTo wR="228629" hR="228629" stAng="0" swAng="5400000"/>
                <a:lnTo>
                  <a:pt x="228629" y="8429625"/>
                </a:lnTo>
                <a:arcTo wR="228629" hR="228629" stAng="5400000" swAng="5400000"/>
                <a:lnTo>
                  <a:pt x="0" y="228629"/>
                </a:lnTo>
                <a:arcTo wR="228629" hR="228629" stAng="10800000" swAng="5400000"/>
                <a:close/>
              </a:path>
            </a:pathLst>
          </a:custGeom>
          <a:solidFill>
            <a:srgbClr val="FFFFFF">
              <a:alpha val="0"/>
            </a:srgbClr>
          </a:solidFill>
          <a:ln w="28575">
            <a:solidFill>
              <a:srgbClr val="F7F7F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g-image-diagram-HnYEU5-0" descr="preencoded.png"/>
          <p:cNvPicPr>
            <a:picLocks noChangeAspect="1"/>
          </p:cNvPicPr>
          <p:nvPr/>
        </p:nvPicPr>
        <p:blipFill>
          <a:blip r:embed="rId4"/>
          <a:srcRect l="3481" r="4319"/>
          <a:stretch>
            <a:fillRect/>
          </a:stretch>
        </p:blipFill>
        <p:spPr>
          <a:xfrm>
            <a:off x="942975" y="942975"/>
            <a:ext cx="7258050" cy="8401050"/>
          </a:xfrm>
          <a:custGeom>
            <a:avLst/>
            <a:gdLst/>
            <a:ahLst/>
            <a:cxnLst/>
            <a:rect l="0" t="0" r="7258050" b="8401050"/>
            <a:pathLst>
              <a:path w="7258050" h="8401050">
                <a:moveTo>
                  <a:pt x="228629" y="0"/>
                </a:moveTo>
                <a:lnTo>
                  <a:pt x="4781531" y="0"/>
                </a:lnTo>
                <a:arcTo wR="2476519" hR="2476519" stAng="16200000" swAng="5400000"/>
                <a:lnTo>
                  <a:pt x="7258050" y="8172421"/>
                </a:lnTo>
                <a:arcTo wR="228629" hR="228629" stAng="0" swAng="5400000"/>
                <a:lnTo>
                  <a:pt x="228629" y="8401050"/>
                </a:lnTo>
                <a:arcTo wR="228629" hR="228629" stAng="5400000" swAng="5400000"/>
                <a:lnTo>
                  <a:pt x="0" y="228629"/>
                </a:lnTo>
                <a:arcTo wR="228629" hR="228629" stAng="10800000" swAng="5400000"/>
                <a:close/>
              </a:path>
            </a:pathLst>
          </a:custGeom>
        </p:spPr>
      </p:pic>
      <p:sp>
        <p:nvSpPr>
          <p:cNvPr id="8" name="Title 3"/>
          <p:cNvSpPr txBox="1"/>
          <p:nvPr/>
        </p:nvSpPr>
        <p:spPr>
          <a:xfrm>
            <a:off x="9144000" y="2370609"/>
            <a:ext cx="8415338" cy="2758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Agentic End-to-End</a:t>
            </a:r>
          </a:p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Software Development</a:t>
            </a:r>
          </a:p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Workflow</a:t>
            </a:r>
          </a:p>
          <a:p>
            <a:pPr marL="0" indent="0" algn="l">
              <a:lnSpc>
                <a:spcPts val="6970"/>
              </a:lnSpc>
              <a:buNone/>
            </a:pPr>
            <a:endParaRPr lang="en-US" sz="5400" dirty="0"/>
          </a:p>
        </p:txBody>
      </p:sp>
      <p:sp>
        <p:nvSpPr>
          <p:cNvPr id="9" name="SubTitle"/>
          <p:cNvSpPr txBox="1"/>
          <p:nvPr/>
        </p:nvSpPr>
        <p:spPr>
          <a:xfrm>
            <a:off x="9144000" y="5310262"/>
            <a:ext cx="8415338" cy="9105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Software Development with AI agent end-to-end support, AFK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methodology and agents orchestration</a:t>
            </a:r>
            <a:endParaRPr lang="en-US" sz="2100" dirty="0"/>
          </a:p>
        </p:txBody>
      </p:sp>
      <p:sp>
        <p:nvSpPr>
          <p:cNvPr id="10" name="label"/>
          <p:cNvSpPr/>
          <p:nvPr/>
        </p:nvSpPr>
        <p:spPr>
          <a:xfrm>
            <a:off x="9144000" y="1841971"/>
            <a:ext cx="2752725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label-442"/>
          <p:cNvSpPr txBox="1"/>
          <p:nvPr/>
        </p:nvSpPr>
        <p:spPr>
          <a:xfrm>
            <a:off x="9334500" y="1899121"/>
            <a:ext cx="2424113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D0D0D"/>
                </a:solidFill>
                <a:latin typeface="Inter" panose="02000503000000020004" pitchFamily="2" charset="0"/>
              </a:rPr>
              <a:t>Rhein Weg</a:t>
            </a:r>
            <a:endParaRPr lang="en-US" sz="1800" dirty="0"/>
          </a:p>
        </p:txBody>
      </p:sp>
      <p:sp>
        <p:nvSpPr>
          <p:cNvPr id="12" name="nametext-node-MmcrJh-1-2"/>
          <p:cNvSpPr txBox="1"/>
          <p:nvPr/>
        </p:nvSpPr>
        <p:spPr>
          <a:xfrm>
            <a:off x="15814624" y="9124950"/>
            <a:ext cx="1744194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D0D0D"/>
                </a:solidFill>
                <a:latin typeface="Space Grotesk" panose="00000500000000000000" pitchFamily="2" charset="0"/>
              </a:rPr>
              <a:t>Dr.  Han Yang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c7892bd-4e8a-4640-afee-0bff36658f18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4754910"/>
            <a:ext cx="6881813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Agenda</a:t>
            </a:r>
            <a:endParaRPr lang="en-US" sz="4200" dirty="0"/>
          </a:p>
        </p:txBody>
      </p:sp>
      <p:sp>
        <p:nvSpPr>
          <p:cNvPr id="6" name="anchorElementA"/>
          <p:cNvSpPr/>
          <p:nvPr/>
        </p:nvSpPr>
        <p:spPr>
          <a:xfrm>
            <a:off x="8372475" y="0"/>
            <a:ext cx="9525" cy="10287000"/>
          </a:xfrm>
          <a:prstGeom prst="rect">
            <a:avLst/>
          </a:prstGeom>
          <a:solidFill>
            <a:srgbClr val="0D0D0D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icon-diagram-WNLdKu-0"/>
          <p:cNvSpPr/>
          <p:nvPr/>
        </p:nvSpPr>
        <p:spPr>
          <a:xfrm>
            <a:off x="9144000" y="30480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cc7892bd-4e8a-4640-afee-0bff36658f18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200400"/>
            <a:ext cx="304800" cy="304800"/>
          </a:xfrm>
          <a:prstGeom prst="rect">
            <a:avLst/>
          </a:prstGeom>
        </p:spPr>
      </p:pic>
      <p:sp>
        <p:nvSpPr>
          <p:cNvPr id="9" name="headingtext-diagram-WNLdKu-0-1"/>
          <p:cNvSpPr txBox="1"/>
          <p:nvPr/>
        </p:nvSpPr>
        <p:spPr>
          <a:xfrm>
            <a:off x="10058400" y="3174504"/>
            <a:ext cx="59007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Development with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end-to-end support</a:t>
            </a:r>
            <a:endParaRPr lang="en-US" sz="1800" dirty="0"/>
          </a:p>
        </p:txBody>
      </p:sp>
      <p:sp>
        <p:nvSpPr>
          <p:cNvPr id="10" name="icon-diagram-WNLdKu-1"/>
          <p:cNvSpPr/>
          <p:nvPr/>
        </p:nvSpPr>
        <p:spPr>
          <a:xfrm>
            <a:off x="9144000" y="38862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cc7892bd-4e8a-4640-afee-0bff36658f18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4038600"/>
            <a:ext cx="304800" cy="304800"/>
          </a:xfrm>
          <a:prstGeom prst="rect">
            <a:avLst/>
          </a:prstGeom>
        </p:spPr>
      </p:pic>
      <p:sp>
        <p:nvSpPr>
          <p:cNvPr id="12" name="headingtext-diagram-WNLdKu-1-2"/>
          <p:cNvSpPr txBox="1"/>
          <p:nvPr/>
        </p:nvSpPr>
        <p:spPr>
          <a:xfrm>
            <a:off x="10058400" y="4012704"/>
            <a:ext cx="94773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Demo</a:t>
            </a:r>
            <a:endParaRPr lang="en-US" sz="1800" dirty="0"/>
          </a:p>
        </p:txBody>
      </p:sp>
      <p:sp>
        <p:nvSpPr>
          <p:cNvPr id="13" name="icon-diagram-WNLdKu-2"/>
          <p:cNvSpPr/>
          <p:nvPr/>
        </p:nvSpPr>
        <p:spPr>
          <a:xfrm>
            <a:off x="9144000" y="47244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cc7892bd-4e8a-4640-afee-0bff36658f18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4876800"/>
            <a:ext cx="304800" cy="304800"/>
          </a:xfrm>
          <a:prstGeom prst="rect">
            <a:avLst/>
          </a:prstGeom>
        </p:spPr>
      </p:pic>
      <p:sp>
        <p:nvSpPr>
          <p:cNvPr id="15" name="headingtext-diagram-WNLdKu-2-3"/>
          <p:cNvSpPr txBox="1"/>
          <p:nvPr/>
        </p:nvSpPr>
        <p:spPr>
          <a:xfrm>
            <a:off x="10058400" y="4850904"/>
            <a:ext cx="4633913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developer main task in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era</a:t>
            </a:r>
            <a:endParaRPr lang="en-US" sz="1800" dirty="0"/>
          </a:p>
        </p:txBody>
      </p:sp>
      <p:sp>
        <p:nvSpPr>
          <p:cNvPr id="16" name="icon-diagram-WNLdKu-3"/>
          <p:cNvSpPr/>
          <p:nvPr/>
        </p:nvSpPr>
        <p:spPr>
          <a:xfrm>
            <a:off x="9144000" y="55626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cc7892bd-4e8a-4640-afee-0bff36658f18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5715000"/>
            <a:ext cx="304800" cy="304800"/>
          </a:xfrm>
          <a:prstGeom prst="rect">
            <a:avLst/>
          </a:prstGeom>
        </p:spPr>
      </p:pic>
      <p:sp>
        <p:nvSpPr>
          <p:cNvPr id="18" name="headingtext-diagram-WNLdKu-3-4"/>
          <p:cNvSpPr txBox="1"/>
          <p:nvPr/>
        </p:nvSpPr>
        <p:spPr>
          <a:xfrm>
            <a:off x="10058400" y="5689104"/>
            <a:ext cx="3948112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Memory support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personal assistant</a:t>
            </a:r>
            <a:endParaRPr lang="en-US" sz="1800" dirty="0"/>
          </a:p>
        </p:txBody>
      </p:sp>
      <p:sp>
        <p:nvSpPr>
          <p:cNvPr id="19" name="icon-diagram-WNLdKu-4"/>
          <p:cNvSpPr/>
          <p:nvPr/>
        </p:nvSpPr>
        <p:spPr>
          <a:xfrm>
            <a:off x="9144000" y="64008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0" name="cc7892bd-4e8a-4640-afee-0bff36658f18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0" y="6553200"/>
            <a:ext cx="304800" cy="304800"/>
          </a:xfrm>
          <a:prstGeom prst="rect">
            <a:avLst/>
          </a:prstGeom>
        </p:spPr>
      </p:pic>
      <p:sp>
        <p:nvSpPr>
          <p:cNvPr id="21" name="505106ab-7ad3-49bd-a500-d36e8b68bd86-489"/>
          <p:cNvSpPr txBox="1"/>
          <p:nvPr/>
        </p:nvSpPr>
        <p:spPr>
          <a:xfrm>
            <a:off x="10058400" y="6560641"/>
            <a:ext cx="2128838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Agentic Workflow</a:t>
            </a:r>
            <a:endParaRPr lang="en-US" sz="1800" dirty="0"/>
          </a:p>
        </p:txBody>
      </p:sp>
      <p:sp>
        <p:nvSpPr>
          <p:cNvPr id="22" name="icon-diagram-WNLdKu-5"/>
          <p:cNvSpPr/>
          <p:nvPr/>
        </p:nvSpPr>
        <p:spPr>
          <a:xfrm>
            <a:off x="9144000" y="72390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cc7892bd-4e8a-4640-afee-0bff36658f18-A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7391400"/>
            <a:ext cx="304800" cy="304800"/>
          </a:xfrm>
          <a:prstGeom prst="rect">
            <a:avLst/>
          </a:prstGeom>
        </p:spPr>
      </p:pic>
      <p:sp>
        <p:nvSpPr>
          <p:cNvPr id="24" name="headingtext-diagram-WNLdKu-5-6"/>
          <p:cNvSpPr txBox="1"/>
          <p:nvPr/>
        </p:nvSpPr>
        <p:spPr>
          <a:xfrm>
            <a:off x="10058400" y="7365504"/>
            <a:ext cx="313848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FDE for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agentic end-to-end</a:t>
            </a:r>
            <a:endParaRPr lang="en-US" sz="1800" dirty="0"/>
          </a:p>
        </p:txBody>
      </p:sp>
      <p:sp>
        <p:nvSpPr>
          <p:cNvPr id="25" name="icon-diagram-WNLdKu-6"/>
          <p:cNvSpPr/>
          <p:nvPr/>
        </p:nvSpPr>
        <p:spPr>
          <a:xfrm>
            <a:off x="9144000" y="80772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cc7892bd-4e8a-4640-afee-0bff36658f18-A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8229600"/>
            <a:ext cx="304800" cy="304800"/>
          </a:xfrm>
          <a:prstGeom prst="rect">
            <a:avLst/>
          </a:prstGeom>
        </p:spPr>
      </p:pic>
      <p:sp>
        <p:nvSpPr>
          <p:cNvPr id="27" name="headingtext-diagram-WNLdKu-6-7"/>
          <p:cNvSpPr txBox="1"/>
          <p:nvPr/>
        </p:nvSpPr>
        <p:spPr>
          <a:xfrm>
            <a:off x="10058400" y="8203704"/>
            <a:ext cx="43005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Development team culture in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era</a:t>
            </a:r>
            <a:endParaRPr lang="en-US" sz="1800" dirty="0"/>
          </a:p>
        </p:txBody>
      </p:sp>
      <p:sp>
        <p:nvSpPr>
          <p:cNvPr id="28" name="icon-diagram-WNLdKu-7"/>
          <p:cNvSpPr/>
          <p:nvPr/>
        </p:nvSpPr>
        <p:spPr>
          <a:xfrm>
            <a:off x="9144000" y="89154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cc7892bd-4e8a-4640-afee-0bff36658f18-A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6400" y="9067800"/>
            <a:ext cx="304800" cy="304800"/>
          </a:xfrm>
          <a:prstGeom prst="rect">
            <a:avLst/>
          </a:prstGeom>
        </p:spPr>
      </p:pic>
      <p:sp>
        <p:nvSpPr>
          <p:cNvPr id="30" name="headingtext-diagram-WNLdKu-7-8"/>
          <p:cNvSpPr txBox="1"/>
          <p:nvPr/>
        </p:nvSpPr>
        <p:spPr>
          <a:xfrm>
            <a:off x="10058400" y="9041904"/>
            <a:ext cx="94773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Tips</a:t>
            </a:r>
            <a:endParaRPr lang="en-US" sz="1800" dirty="0"/>
          </a:p>
        </p:txBody>
      </p:sp>
      <p:sp>
        <p:nvSpPr>
          <p:cNvPr id="31" name="-474"/>
          <p:cNvSpPr txBox="1"/>
          <p:nvPr/>
        </p:nvSpPr>
        <p:spPr>
          <a:xfrm>
            <a:off x="1648435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32" name="-444"/>
          <p:cNvSpPr txBox="1"/>
          <p:nvPr/>
        </p:nvSpPr>
        <p:spPr>
          <a:xfrm>
            <a:off x="17336691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8e202ff-d612-482b-84eb-14c3aa3d97a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stepuparrow4node-layer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headingtext-diagram-SjIon0-0-1"/>
          <p:cNvSpPr txBox="1"/>
          <p:nvPr/>
        </p:nvSpPr>
        <p:spPr>
          <a:xfrm>
            <a:off x="1161083" y="8008590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Analysis &amp; Spec</a:t>
            </a:r>
            <a:endParaRPr lang="en-US" sz="1800" dirty="0"/>
          </a:p>
        </p:txBody>
      </p:sp>
      <p:sp>
        <p:nvSpPr>
          <p:cNvPr id="6" name="bodytext-diagram-SjIon0-0-1"/>
          <p:cNvSpPr txBox="1"/>
          <p:nvPr/>
        </p:nvSpPr>
        <p:spPr>
          <a:xfrm>
            <a:off x="1161083" y="8396436"/>
            <a:ext cx="47958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AI skills translate financial requirements into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actionable specifications.</a:t>
            </a:r>
            <a:endParaRPr lang="en-US" sz="1800" dirty="0"/>
          </a:p>
        </p:txBody>
      </p:sp>
      <p:sp>
        <p:nvSpPr>
          <p:cNvPr id="7" name="headingtext-diagram-SjIon0-1-2"/>
          <p:cNvSpPr txBox="1"/>
          <p:nvPr/>
        </p:nvSpPr>
        <p:spPr>
          <a:xfrm>
            <a:off x="3691830" y="5712172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AFK Implementation</a:t>
            </a:r>
            <a:endParaRPr lang="en-US" sz="1800" dirty="0"/>
          </a:p>
        </p:txBody>
      </p:sp>
      <p:sp>
        <p:nvSpPr>
          <p:cNvPr id="8" name="bodytext-diagram-SjIon0-1-2"/>
          <p:cNvSpPr txBox="1"/>
          <p:nvPr/>
        </p:nvSpPr>
        <p:spPr>
          <a:xfrm>
            <a:off x="3691830" y="6100018"/>
            <a:ext cx="47958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AI executes the "Away From Keyboard"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method, creating production code.</a:t>
            </a:r>
            <a:endParaRPr lang="en-US" sz="1800" dirty="0"/>
          </a:p>
        </p:txBody>
      </p:sp>
      <p:sp>
        <p:nvSpPr>
          <p:cNvPr id="9" name="headingtext-diagram-SjIon0-2-3"/>
          <p:cNvSpPr txBox="1"/>
          <p:nvPr/>
        </p:nvSpPr>
        <p:spPr>
          <a:xfrm>
            <a:off x="6937995" y="3236416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Architectural Enhancements</a:t>
            </a:r>
            <a:endParaRPr lang="en-US" sz="1800" dirty="0"/>
          </a:p>
        </p:txBody>
      </p:sp>
      <p:sp>
        <p:nvSpPr>
          <p:cNvPr id="10" name="bodytext-diagram-SjIon0-2-3"/>
          <p:cNvSpPr txBox="1"/>
          <p:nvPr/>
        </p:nvSpPr>
        <p:spPr>
          <a:xfrm>
            <a:off x="6937995" y="3624263"/>
            <a:ext cx="47958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Agents assist in continuous refactoring and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improvements for high-quality software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architecture.</a:t>
            </a:r>
            <a:endParaRPr lang="en-US" sz="1800" dirty="0"/>
          </a:p>
        </p:txBody>
      </p:sp>
      <p:sp>
        <p:nvSpPr>
          <p:cNvPr id="11" name="headingtext-diagram-SjIon0-3-4"/>
          <p:cNvSpPr txBox="1"/>
          <p:nvPr/>
        </p:nvSpPr>
        <p:spPr>
          <a:xfrm>
            <a:off x="9170640" y="881807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Maintenance &amp; Resolution</a:t>
            </a:r>
            <a:endParaRPr lang="en-US" sz="1800" dirty="0"/>
          </a:p>
        </p:txBody>
      </p:sp>
      <p:sp>
        <p:nvSpPr>
          <p:cNvPr id="12" name="bodytext-diagram-SjIon0-3-4"/>
          <p:cNvSpPr txBox="1"/>
          <p:nvPr/>
        </p:nvSpPr>
        <p:spPr>
          <a:xfrm>
            <a:off x="9170640" y="1269653"/>
            <a:ext cx="47958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Bug fixes and routine maintenance handled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via AI-guided diagnostics to minimize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downtime.</a:t>
            </a:r>
            <a:endParaRPr lang="en-US" sz="1800" dirty="0"/>
          </a:p>
        </p:txBody>
      </p:sp>
      <p:sp>
        <p:nvSpPr>
          <p:cNvPr id="13" name="Title 3"/>
          <p:cNvSpPr txBox="1"/>
          <p:nvPr/>
        </p:nvSpPr>
        <p:spPr>
          <a:xfrm>
            <a:off x="762000" y="762000"/>
            <a:ext cx="67389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Our Lifecycle Shifts</a:t>
            </a:r>
            <a:endParaRPr lang="en-US" sz="4200" dirty="0"/>
          </a:p>
        </p:txBody>
      </p:sp>
      <p:sp>
        <p:nvSpPr>
          <p:cNvPr id="14" name="SubTitle"/>
          <p:cNvSpPr txBox="1"/>
          <p:nvPr/>
        </p:nvSpPr>
        <p:spPr>
          <a:xfrm>
            <a:off x="762000" y="1767780"/>
            <a:ext cx="6738938" cy="9105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AI agents transition production from manual labor 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high-integrity automated delivery.</a:t>
            </a:r>
            <a:endParaRPr lang="en-US" sz="2100" dirty="0"/>
          </a:p>
        </p:txBody>
      </p:sp>
      <p:sp>
        <p:nvSpPr>
          <p:cNvPr id="15" name="-429"/>
          <p:cNvSpPr txBox="1"/>
          <p:nvPr/>
        </p:nvSpPr>
        <p:spPr>
          <a:xfrm>
            <a:off x="16482194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6" name="-435"/>
          <p:cNvSpPr txBox="1"/>
          <p:nvPr/>
        </p:nvSpPr>
        <p:spPr>
          <a:xfrm>
            <a:off x="17334533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f9639b-a954-49f2-813c-78bd221739e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1290638"/>
            <a:ext cx="9482138" cy="1215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8780"/>
              </a:lnSpc>
              <a:buNone/>
            </a:pPr>
            <a:r>
              <a:rPr lang="en-US" sz="7200" b="1" dirty="0">
                <a:solidFill>
                  <a:srgbClr val="0D0D0D"/>
                </a:solidFill>
                <a:latin typeface="Space Grotesk" panose="00000500000000000000" pitchFamily="2" charset="0"/>
              </a:rPr>
              <a:t>Demo</a:t>
            </a:r>
            <a:endParaRPr lang="en-US" sz="7200" dirty="0"/>
          </a:p>
        </p:txBody>
      </p:sp>
      <p:sp>
        <p:nvSpPr>
          <p:cNvPr id="6" name="label"/>
          <p:cNvSpPr/>
          <p:nvPr/>
        </p:nvSpPr>
        <p:spPr>
          <a:xfrm>
            <a:off x="762000" y="762000"/>
            <a:ext cx="2209800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label-419"/>
          <p:cNvSpPr txBox="1"/>
          <p:nvPr/>
        </p:nvSpPr>
        <p:spPr>
          <a:xfrm>
            <a:off x="952500" y="819150"/>
            <a:ext cx="188118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D0D0D"/>
                </a:solidFill>
                <a:latin typeface="Inter" panose="02000503000000020004" pitchFamily="2" charset="0"/>
              </a:rPr>
              <a:t>PRODUCT DEMO</a:t>
            </a:r>
            <a:endParaRPr lang="en-US" sz="1800" dirty="0"/>
          </a:p>
        </p:txBody>
      </p:sp>
      <p:sp>
        <p:nvSpPr>
          <p:cNvPr id="8" name="image-diagram-xoap2l-0"/>
          <p:cNvSpPr/>
          <p:nvPr/>
        </p:nvSpPr>
        <p:spPr>
          <a:xfrm>
            <a:off x="10972800" y="762000"/>
            <a:ext cx="6496050" cy="8734425"/>
          </a:xfrm>
          <a:prstGeom prst="roundRect">
            <a:avLst>
              <a:gd name="adj" fmla="val 469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7F7F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9" name="img-image-diagram-xoap2l-0" descr="preencoded.png"/>
          <p:cNvPicPr>
            <a:picLocks noChangeAspect="1"/>
          </p:cNvPicPr>
          <p:nvPr/>
        </p:nvPicPr>
        <p:blipFill>
          <a:blip r:embed="rId4"/>
          <a:srcRect l="21210" r="22118"/>
          <a:stretch>
            <a:fillRect/>
          </a:stretch>
        </p:blipFill>
        <p:spPr>
          <a:xfrm>
            <a:off x="11001375" y="790575"/>
            <a:ext cx="6496050" cy="8705850"/>
          </a:xfrm>
          <a:prstGeom prst="roundRect">
            <a:avLst>
              <a:gd name="adj" fmla="val 4692"/>
            </a:avLst>
          </a:prstGeom>
        </p:spPr>
      </p:pic>
      <p:sp>
        <p:nvSpPr>
          <p:cNvPr id="10" name="-479"/>
          <p:cNvSpPr txBox="1"/>
          <p:nvPr/>
        </p:nvSpPr>
        <p:spPr>
          <a:xfrm>
            <a:off x="1647795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1" name="-481"/>
          <p:cNvSpPr txBox="1"/>
          <p:nvPr/>
        </p:nvSpPr>
        <p:spPr>
          <a:xfrm>
            <a:off x="17330291" y="9654555"/>
            <a:ext cx="233362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4c173ae-0a9d-4deb-8027-28d80422744c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SubTitle"/>
          <p:cNvSpPr txBox="1"/>
          <p:nvPr/>
        </p:nvSpPr>
        <p:spPr>
          <a:xfrm>
            <a:off x="762000" y="8043788"/>
            <a:ext cx="7653337" cy="1586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The primary daily output is now clean, high-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quality specifications that AI agents can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translate into high-quality production code.</a:t>
            </a:r>
            <a:endParaRPr lang="en-US" sz="2700" dirty="0"/>
          </a:p>
        </p:txBody>
      </p:sp>
      <p:sp>
        <p:nvSpPr>
          <p:cNvPr id="6" name="Title 3"/>
          <p:cNvSpPr txBox="1"/>
          <p:nvPr/>
        </p:nvSpPr>
        <p:spPr>
          <a:xfrm>
            <a:off x="762000" y="762000"/>
            <a:ext cx="7653337" cy="36442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Engineers now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master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agents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orchestration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over coding</a:t>
            </a:r>
            <a:endParaRPr lang="en-US" sz="5400" dirty="0"/>
          </a:p>
        </p:txBody>
      </p:sp>
      <p:sp>
        <p:nvSpPr>
          <p:cNvPr id="7" name="node-diagram-zvDp4v-0"/>
          <p:cNvSpPr/>
          <p:nvPr/>
        </p:nvSpPr>
        <p:spPr>
          <a:xfrm>
            <a:off x="9144000" y="762000"/>
            <a:ext cx="4057650" cy="4257675"/>
          </a:xfrm>
          <a:prstGeom prst="roundRect">
            <a:avLst>
              <a:gd name="adj" fmla="val 5634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9144000" y="762000"/>
            <a:ext cx="4057650" cy="4248150"/>
          </a:xfrm>
          <a:prstGeom prst="roundRect">
            <a:avLst>
              <a:gd name="adj" fmla="val 563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headingtext-diagram-zvDp4v-0-1"/>
          <p:cNvSpPr txBox="1"/>
          <p:nvPr/>
        </p:nvSpPr>
        <p:spPr>
          <a:xfrm>
            <a:off x="9458325" y="1000125"/>
            <a:ext cx="34813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Specifications is the Code</a:t>
            </a:r>
            <a:endParaRPr lang="en-US" sz="2100" dirty="0"/>
          </a:p>
        </p:txBody>
      </p:sp>
      <p:sp>
        <p:nvSpPr>
          <p:cNvPr id="10" name="bodytext-diagram-zvDp4v-0-1"/>
          <p:cNvSpPr txBox="1"/>
          <p:nvPr/>
        </p:nvSpPr>
        <p:spPr>
          <a:xfrm>
            <a:off x="9458325" y="1435596"/>
            <a:ext cx="348138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primary daily output is now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specs that AI agents translate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into production code.</a:t>
            </a:r>
            <a:endParaRPr lang="en-US" sz="1800" dirty="0"/>
          </a:p>
        </p:txBody>
      </p:sp>
      <p:sp>
        <p:nvSpPr>
          <p:cNvPr id="11" name="node-diagram-zvDp4v-1"/>
          <p:cNvSpPr/>
          <p:nvPr/>
        </p:nvSpPr>
        <p:spPr>
          <a:xfrm>
            <a:off x="13449300" y="762000"/>
            <a:ext cx="4057650" cy="4257675"/>
          </a:xfrm>
          <a:prstGeom prst="roundRect">
            <a:avLst>
              <a:gd name="adj" fmla="val 5634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13449300" y="762000"/>
            <a:ext cx="4057650" cy="4248150"/>
          </a:xfrm>
          <a:prstGeom prst="roundRect">
            <a:avLst>
              <a:gd name="adj" fmla="val 563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headingtext-diagram-zvDp4v-1-2"/>
          <p:cNvSpPr txBox="1"/>
          <p:nvPr/>
        </p:nvSpPr>
        <p:spPr>
          <a:xfrm>
            <a:off x="13763625" y="1000125"/>
            <a:ext cx="34813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Prompt and Skill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Fine-tuning</a:t>
            </a:r>
            <a:endParaRPr lang="en-US" sz="2100" dirty="0"/>
          </a:p>
        </p:txBody>
      </p:sp>
      <p:sp>
        <p:nvSpPr>
          <p:cNvPr id="14" name="bodytext-diagram-zvDp4v-1-2"/>
          <p:cNvSpPr txBox="1"/>
          <p:nvPr/>
        </p:nvSpPr>
        <p:spPr>
          <a:xfrm>
            <a:off x="13763625" y="1832967"/>
            <a:ext cx="348138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Enhance skills and prompts 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align with company standards of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code conduct and responsibility.</a:t>
            </a:r>
            <a:endParaRPr lang="en-US" sz="1800" dirty="0"/>
          </a:p>
        </p:txBody>
      </p:sp>
      <p:sp>
        <p:nvSpPr>
          <p:cNvPr id="15" name="node-diagram-zvDp4v-2"/>
          <p:cNvSpPr/>
          <p:nvPr/>
        </p:nvSpPr>
        <p:spPr>
          <a:xfrm>
            <a:off x="9144000" y="5257800"/>
            <a:ext cx="8362950" cy="4257675"/>
          </a:xfrm>
          <a:prstGeom prst="roundRect">
            <a:avLst>
              <a:gd name="adj" fmla="val 5369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/>
          <p:nvPr/>
        </p:nvSpPr>
        <p:spPr>
          <a:xfrm>
            <a:off x="9144000" y="5257800"/>
            <a:ext cx="8362950" cy="4248150"/>
          </a:xfrm>
          <a:prstGeom prst="roundRect">
            <a:avLst>
              <a:gd name="adj" fmla="val 5381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headingtext-diagram-zvDp4v-2-3"/>
          <p:cNvSpPr txBox="1"/>
          <p:nvPr/>
        </p:nvSpPr>
        <p:spPr>
          <a:xfrm>
            <a:off x="9458325" y="5495925"/>
            <a:ext cx="7786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Workflow Orchestration</a:t>
            </a:r>
            <a:endParaRPr lang="en-US" sz="2100" dirty="0"/>
          </a:p>
        </p:txBody>
      </p:sp>
      <p:sp>
        <p:nvSpPr>
          <p:cNvPr id="18" name="bodytext-diagram-zvDp4v-2-3"/>
          <p:cNvSpPr txBox="1"/>
          <p:nvPr/>
        </p:nvSpPr>
        <p:spPr>
          <a:xfrm>
            <a:off x="9458325" y="5931396"/>
            <a:ext cx="778668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Managing interaction between AI agents to create a seamless, end-to-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end development pipeline.</a:t>
            </a:r>
            <a:endParaRPr lang="en-US" sz="1800" dirty="0"/>
          </a:p>
        </p:txBody>
      </p:sp>
      <p:sp>
        <p:nvSpPr>
          <p:cNvPr id="19" name="-408"/>
          <p:cNvSpPr txBox="1"/>
          <p:nvPr/>
        </p:nvSpPr>
        <p:spPr>
          <a:xfrm>
            <a:off x="16483459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20" name="-487"/>
          <p:cNvSpPr txBox="1"/>
          <p:nvPr/>
        </p:nvSpPr>
        <p:spPr>
          <a:xfrm>
            <a:off x="17335798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4bb2e0-fe50-4dda-a316-dcb49d3c890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762000"/>
            <a:ext cx="612933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A Second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Brain AI agent</a:t>
            </a:r>
            <a:endParaRPr lang="en-US" sz="5400" dirty="0"/>
          </a:p>
        </p:txBody>
      </p:sp>
      <p:sp>
        <p:nvSpPr>
          <p:cNvPr id="6" name="SubTitle"/>
          <p:cNvSpPr txBox="1"/>
          <p:nvPr/>
        </p:nvSpPr>
        <p:spPr>
          <a:xfrm>
            <a:off x="762000" y="2817019"/>
            <a:ext cx="6129338" cy="2032567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Memory-supported AI agents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remember your context, decisions,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and preferences to personalize every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single interaction.</a:t>
            </a:r>
            <a:endParaRPr lang="en-US" sz="2700" dirty="0"/>
          </a:p>
        </p:txBody>
      </p:sp>
      <p:sp>
        <p:nvSpPr>
          <p:cNvPr id="7" name="node-diagram-RUhCDi-0"/>
          <p:cNvSpPr/>
          <p:nvPr/>
        </p:nvSpPr>
        <p:spPr>
          <a:xfrm>
            <a:off x="9144000" y="762000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9144000" y="762000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9" name="354bb2e0-fe50-4dda-a316-dcb49d3c8904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1000125"/>
            <a:ext cx="381000" cy="381000"/>
          </a:xfrm>
          <a:prstGeom prst="rect">
            <a:avLst/>
          </a:prstGeom>
        </p:spPr>
      </p:pic>
      <p:sp>
        <p:nvSpPr>
          <p:cNvPr id="10" name="headingtext-diagram-RUhCDi-0-1"/>
          <p:cNvSpPr txBox="1"/>
          <p:nvPr/>
        </p:nvSpPr>
        <p:spPr>
          <a:xfrm>
            <a:off x="9458325" y="1685925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Persistent Memory</a:t>
            </a:r>
            <a:endParaRPr lang="en-US" sz="2100" dirty="0"/>
          </a:p>
        </p:txBody>
      </p:sp>
      <p:sp>
        <p:nvSpPr>
          <p:cNvPr id="11" name="node-diagram-RUhCDi-1"/>
          <p:cNvSpPr/>
          <p:nvPr/>
        </p:nvSpPr>
        <p:spPr>
          <a:xfrm>
            <a:off x="9144000" y="3759175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9144000" y="3759175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3" name="354bb2e0-fe50-4dda-a316-dcb49d3c8904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325" y="3997300"/>
            <a:ext cx="381000" cy="381000"/>
          </a:xfrm>
          <a:prstGeom prst="rect">
            <a:avLst/>
          </a:prstGeom>
        </p:spPr>
      </p:pic>
      <p:sp>
        <p:nvSpPr>
          <p:cNvPr id="14" name="headingtext-diagram-RUhCDi-1-2"/>
          <p:cNvSpPr txBox="1"/>
          <p:nvPr/>
        </p:nvSpPr>
        <p:spPr>
          <a:xfrm>
            <a:off x="9458325" y="4683100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Personal Assistant</a:t>
            </a:r>
            <a:endParaRPr lang="en-US" sz="2100" dirty="0"/>
          </a:p>
        </p:txBody>
      </p:sp>
      <p:sp>
        <p:nvSpPr>
          <p:cNvPr id="15" name="node-diagram-RUhCDi-2"/>
          <p:cNvSpPr/>
          <p:nvPr/>
        </p:nvSpPr>
        <p:spPr>
          <a:xfrm>
            <a:off x="9144000" y="6756350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/>
          <p:nvPr/>
        </p:nvSpPr>
        <p:spPr>
          <a:xfrm>
            <a:off x="9144000" y="6756350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7" name="354bb2e0-fe50-4dda-a316-dcb49d3c8904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8325" y="6994475"/>
            <a:ext cx="381000" cy="381000"/>
          </a:xfrm>
          <a:prstGeom prst="rect">
            <a:avLst/>
          </a:prstGeom>
        </p:spPr>
      </p:pic>
      <p:sp>
        <p:nvSpPr>
          <p:cNvPr id="18" name="headingtext-diagram-RUhCDi-2-3"/>
          <p:cNvSpPr txBox="1"/>
          <p:nvPr/>
        </p:nvSpPr>
        <p:spPr>
          <a:xfrm>
            <a:off x="9458325" y="7680275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Shared Knowledge</a:t>
            </a:r>
            <a:endParaRPr lang="en-US" sz="2100" dirty="0"/>
          </a:p>
        </p:txBody>
      </p:sp>
      <p:sp>
        <p:nvSpPr>
          <p:cNvPr id="19" name="-449"/>
          <p:cNvSpPr txBox="1"/>
          <p:nvPr/>
        </p:nvSpPr>
        <p:spPr>
          <a:xfrm>
            <a:off x="164807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20" name="-497"/>
          <p:cNvSpPr txBox="1"/>
          <p:nvPr/>
        </p:nvSpPr>
        <p:spPr>
          <a:xfrm>
            <a:off x="17333044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06</a:t>
            </a:r>
            <a:endParaRPr lang="en-US" sz="1200" dirty="0"/>
          </a:p>
        </p:txBody>
      </p:sp>
      <p:sp>
        <p:nvSpPr>
          <p:cNvPr id="21" name="bodytext-diagram-kPzble-0-1">
            <a:extLst>
              <a:ext uri="{FF2B5EF4-FFF2-40B4-BE49-F238E27FC236}">
                <a16:creationId xmlns:a16="http://schemas.microsoft.com/office/drawing/2014/main" id="{91B2BD84-3556-E222-A2E3-E787FA9F2713}"/>
              </a:ext>
            </a:extLst>
          </p:cNvPr>
          <p:cNvSpPr txBox="1"/>
          <p:nvPr/>
        </p:nvSpPr>
        <p:spPr>
          <a:xfrm>
            <a:off x="9458325" y="2241232"/>
            <a:ext cx="7462838" cy="786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Obsidian keeps context and decisions across sessions, so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knowledge compounds.</a:t>
            </a:r>
            <a:endParaRPr lang="en-US" sz="2100" dirty="0"/>
          </a:p>
        </p:txBody>
      </p:sp>
      <p:sp>
        <p:nvSpPr>
          <p:cNvPr id="22" name="bodytext-diagram-kPzble-1-2">
            <a:extLst>
              <a:ext uri="{FF2B5EF4-FFF2-40B4-BE49-F238E27FC236}">
                <a16:creationId xmlns:a16="http://schemas.microsoft.com/office/drawing/2014/main" id="{318952E6-3509-1FB6-4FF2-6C2CF69961E3}"/>
              </a:ext>
            </a:extLst>
          </p:cNvPr>
          <p:cNvSpPr txBox="1"/>
          <p:nvPr/>
        </p:nvSpPr>
        <p:spPr>
          <a:xfrm>
            <a:off x="9458325" y="5133937"/>
            <a:ext cx="7462838" cy="113014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Each person gets a tailored agent that knows their projects,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standards, and history. AI agent Microsoft 365 plugin will provide</a:t>
            </a:r>
          </a:p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AI support on daily work.</a:t>
            </a:r>
            <a:endParaRPr lang="en-US" sz="2100" dirty="0"/>
          </a:p>
        </p:txBody>
      </p:sp>
      <p:sp>
        <p:nvSpPr>
          <p:cNvPr id="23" name="bodytext-diagram-kPzble-2-3">
            <a:extLst>
              <a:ext uri="{FF2B5EF4-FFF2-40B4-BE49-F238E27FC236}">
                <a16:creationId xmlns:a16="http://schemas.microsoft.com/office/drawing/2014/main" id="{5666C69E-7F19-6BC4-5C8D-C5D10980F770}"/>
              </a:ext>
            </a:extLst>
          </p:cNvPr>
          <p:cNvSpPr txBox="1"/>
          <p:nvPr/>
        </p:nvSpPr>
        <p:spPr>
          <a:xfrm>
            <a:off x="9458325" y="8207692"/>
            <a:ext cx="7462838" cy="786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 shared Second Brain captures team expertise, so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onboarding is effortless.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49b072-cb9d-459b-bf4c-05934b011ebf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onnectioncore3node-layer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headingtext-diagram-TaCwkw-0-1"/>
          <p:cNvSpPr txBox="1"/>
          <p:nvPr/>
        </p:nvSpPr>
        <p:spPr>
          <a:xfrm>
            <a:off x="13278371" y="2636416"/>
            <a:ext cx="2641986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Scheduled Prompt Tasks</a:t>
            </a:r>
            <a:endParaRPr lang="en-US" sz="1650" dirty="0"/>
          </a:p>
        </p:txBody>
      </p:sp>
      <p:sp>
        <p:nvSpPr>
          <p:cNvPr id="6" name="headingtext-diagram-TaCwkw-1-2"/>
          <p:cNvSpPr txBox="1"/>
          <p:nvPr/>
        </p:nvSpPr>
        <p:spPr>
          <a:xfrm>
            <a:off x="15050021" y="7315200"/>
            <a:ext cx="2414588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Repeated Work Skills</a:t>
            </a:r>
            <a:endParaRPr lang="en-US" sz="1650" dirty="0"/>
          </a:p>
        </p:txBody>
      </p:sp>
      <p:sp>
        <p:nvSpPr>
          <p:cNvPr id="7" name="headingtext-diagram-TaCwkw-2-3"/>
          <p:cNvSpPr txBox="1"/>
          <p:nvPr/>
        </p:nvSpPr>
        <p:spPr>
          <a:xfrm>
            <a:off x="5718200" y="7315200"/>
            <a:ext cx="2414588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Agent Workflow Tools</a:t>
            </a:r>
            <a:endParaRPr lang="en-US" sz="1650" dirty="0"/>
          </a:p>
        </p:txBody>
      </p:sp>
      <p:sp>
        <p:nvSpPr>
          <p:cNvPr id="8" name="headingtext-diagram-TaCwkw-0-commonpoint-start-1"/>
          <p:cNvSpPr txBox="1"/>
          <p:nvPr/>
        </p:nvSpPr>
        <p:spPr>
          <a:xfrm>
            <a:off x="10999366" y="5519440"/>
            <a:ext cx="1290638" cy="729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46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Inter" panose="02000503000000020004" pitchFamily="2" charset="0"/>
              </a:rPr>
              <a:t>Automation</a:t>
            </a:r>
            <a:r>
              <a:rPr lang="en-US" sz="1500" dirty="0">
                <a:solidFill>
                  <a:srgbClr val="000000"/>
                </a:solidFill>
              </a:rPr>
              <a:t>
</a:t>
            </a:r>
            <a:r>
              <a:rPr lang="en-US" sz="1500" dirty="0">
                <a:solidFill>
                  <a:srgbClr val="0D0D0D"/>
                </a:solidFill>
                <a:latin typeface="Inter" panose="02000503000000020004" pitchFamily="2" charset="0"/>
              </a:rPr>
              <a:t>Methods</a:t>
            </a:r>
            <a:endParaRPr lang="en-US" sz="1500" dirty="0"/>
          </a:p>
        </p:txBody>
      </p:sp>
      <p:sp>
        <p:nvSpPr>
          <p:cNvPr id="9" name="Title 3"/>
          <p:cNvSpPr txBox="1"/>
          <p:nvPr/>
        </p:nvSpPr>
        <p:spPr>
          <a:xfrm>
            <a:off x="762000" y="4659213"/>
            <a:ext cx="3995738" cy="1539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Three ways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to </a:t>
            </a:r>
            <a:r>
              <a:rPr lang="en-US" altLang="en-US" sz="4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automate</a:t>
            </a:r>
            <a:endParaRPr lang="en-US" sz="4200" dirty="0"/>
          </a:p>
        </p:txBody>
      </p:sp>
      <p:sp>
        <p:nvSpPr>
          <p:cNvPr id="10" name="label"/>
          <p:cNvSpPr/>
          <p:nvPr/>
        </p:nvSpPr>
        <p:spPr>
          <a:xfrm>
            <a:off x="762000" y="4130576"/>
            <a:ext cx="1866900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label-483"/>
          <p:cNvSpPr txBox="1"/>
          <p:nvPr/>
        </p:nvSpPr>
        <p:spPr>
          <a:xfrm>
            <a:off x="952500" y="4187726"/>
            <a:ext cx="153828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D0D0D"/>
                </a:solidFill>
                <a:latin typeface="Inter" panose="02000503000000020004" pitchFamily="2" charset="0"/>
              </a:rPr>
              <a:t>AUTOMATION</a:t>
            </a:r>
            <a:endParaRPr lang="en-US" sz="1800" dirty="0"/>
          </a:p>
        </p:txBody>
      </p:sp>
      <p:sp>
        <p:nvSpPr>
          <p:cNvPr id="12" name="-401"/>
          <p:cNvSpPr txBox="1"/>
          <p:nvPr/>
        </p:nvSpPr>
        <p:spPr>
          <a:xfrm>
            <a:off x="16493505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3" name="-431"/>
          <p:cNvSpPr txBox="1"/>
          <p:nvPr/>
        </p:nvSpPr>
        <p:spPr>
          <a:xfrm>
            <a:off x="17345844" y="9654555"/>
            <a:ext cx="214313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07</a:t>
            </a:r>
            <a:endParaRPr lang="en-US" sz="1200" dirty="0"/>
          </a:p>
        </p:txBody>
      </p:sp>
      <p:sp>
        <p:nvSpPr>
          <p:cNvPr id="14" name="bodytext-diagram-HGf5rq-2-3">
            <a:extLst>
              <a:ext uri="{FF2B5EF4-FFF2-40B4-BE49-F238E27FC236}">
                <a16:creationId xmlns:a16="http://schemas.microsoft.com/office/drawing/2014/main" id="{7E35543D-2A6F-05C8-52E7-F0A8DAA741F3}"/>
              </a:ext>
            </a:extLst>
          </p:cNvPr>
          <p:cNvSpPr txBox="1"/>
          <p:nvPr/>
        </p:nvSpPr>
        <p:spPr>
          <a:xfrm>
            <a:off x="5923393" y="7749540"/>
            <a:ext cx="4231821" cy="729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Run end-to-end processes through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 AI-agent platforms like n8n.</a:t>
            </a:r>
            <a:endParaRPr lang="en-US" sz="2100" dirty="0"/>
          </a:p>
        </p:txBody>
      </p:sp>
      <p:sp>
        <p:nvSpPr>
          <p:cNvPr id="15" name="bodytext-diagram-HGf5rq-1-2">
            <a:extLst>
              <a:ext uri="{FF2B5EF4-FFF2-40B4-BE49-F238E27FC236}">
                <a16:creationId xmlns:a16="http://schemas.microsoft.com/office/drawing/2014/main" id="{473DD464-548F-12A1-BEF2-5E54CF5CEF61}"/>
              </a:ext>
            </a:extLst>
          </p:cNvPr>
          <p:cNvSpPr txBox="1"/>
          <p:nvPr/>
        </p:nvSpPr>
        <p:spPr>
          <a:xfrm>
            <a:off x="13071463" y="7713219"/>
            <a:ext cx="3957116" cy="87003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Encode the steps you repeat most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as a reusable agent skill.</a:t>
            </a:r>
            <a:endParaRPr lang="en-US" sz="2100" dirty="0"/>
          </a:p>
        </p:txBody>
      </p:sp>
      <p:sp>
        <p:nvSpPr>
          <p:cNvPr id="16" name="bodytext-diagram-HGf5rq-0-1">
            <a:extLst>
              <a:ext uri="{FF2B5EF4-FFF2-40B4-BE49-F238E27FC236}">
                <a16:creationId xmlns:a16="http://schemas.microsoft.com/office/drawing/2014/main" id="{628095BC-C298-13E0-E87F-5E4E178A10DB}"/>
              </a:ext>
            </a:extLst>
          </p:cNvPr>
          <p:cNvSpPr txBox="1"/>
          <p:nvPr/>
        </p:nvSpPr>
        <p:spPr>
          <a:xfrm>
            <a:off x="13071463" y="1703747"/>
            <a:ext cx="4970264" cy="71766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Wrap a recurring job in a saved prompt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and run it on a schedule.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743861-dd78-4156-b653-2794105f880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Forward Deployed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Engineers for AI agents</a:t>
            </a:r>
            <a:endParaRPr lang="en-US" sz="5400" dirty="0"/>
          </a:p>
        </p:txBody>
      </p:sp>
      <p:pic>
        <p:nvPicPr>
          <p:cNvPr id="6" name="arrowprocesscards4node-Layer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44" y="3836045"/>
            <a:ext cx="16762809" cy="1047676"/>
          </a:xfrm>
          <a:prstGeom prst="rect">
            <a:avLst/>
          </a:prstGeom>
        </p:spPr>
      </p:pic>
      <p:sp>
        <p:nvSpPr>
          <p:cNvPr id="7" name="placeholder-node-diagram-rRE2um-0"/>
          <p:cNvSpPr/>
          <p:nvPr/>
        </p:nvSpPr>
        <p:spPr>
          <a:xfrm>
            <a:off x="1530623" y="5264721"/>
            <a:ext cx="3448050" cy="3790950"/>
          </a:xfrm>
          <a:prstGeom prst="roundRect">
            <a:avLst>
              <a:gd name="adj" fmla="val 663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1530623" y="5264721"/>
            <a:ext cx="3448050" cy="3787673"/>
          </a:xfrm>
          <a:prstGeom prst="roundRect">
            <a:avLst>
              <a:gd name="adj" fmla="val 6630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placeholder-sequencetext-diagram-rRE2um-0"/>
          <p:cNvSpPr/>
          <p:nvPr/>
        </p:nvSpPr>
        <p:spPr>
          <a:xfrm>
            <a:off x="1835423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1961555" y="5631433"/>
            <a:ext cx="128736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1</a:t>
            </a:r>
            <a:endParaRPr lang="en-US" sz="1650" dirty="0"/>
          </a:p>
        </p:txBody>
      </p:sp>
      <p:sp>
        <p:nvSpPr>
          <p:cNvPr id="11" name="headingtext-diagram-rRE2um-0-1"/>
          <p:cNvSpPr txBox="1"/>
          <p:nvPr/>
        </p:nvSpPr>
        <p:spPr>
          <a:xfrm>
            <a:off x="1835423" y="6293421"/>
            <a:ext cx="28717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Train AI Agent Experts</a:t>
            </a:r>
            <a:endParaRPr lang="en-US" sz="2100" dirty="0"/>
          </a:p>
        </p:txBody>
      </p:sp>
      <p:sp>
        <p:nvSpPr>
          <p:cNvPr id="12" name="bodytext-diagram-rRE2um-0-1"/>
          <p:cNvSpPr txBox="1"/>
          <p:nvPr/>
        </p:nvSpPr>
        <p:spPr>
          <a:xfrm>
            <a:off x="1835423" y="7126263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Develop specialized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expertise in AI agent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frameworks and model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training.</a:t>
            </a:r>
            <a:endParaRPr lang="en-US" sz="2100" dirty="0"/>
          </a:p>
        </p:txBody>
      </p:sp>
      <p:sp>
        <p:nvSpPr>
          <p:cNvPr id="13" name="placeholder-node-diagram-rRE2um-1"/>
          <p:cNvSpPr/>
          <p:nvPr/>
        </p:nvSpPr>
        <p:spPr>
          <a:xfrm>
            <a:off x="5207273" y="5264721"/>
            <a:ext cx="3448050" cy="3390900"/>
          </a:xfrm>
          <a:prstGeom prst="roundRect">
            <a:avLst>
              <a:gd name="adj" fmla="val 6742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::before"/>
          <p:cNvSpPr/>
          <p:nvPr/>
        </p:nvSpPr>
        <p:spPr>
          <a:xfrm>
            <a:off x="5207273" y="5264721"/>
            <a:ext cx="3447974" cy="3390309"/>
          </a:xfrm>
          <a:prstGeom prst="roundRect">
            <a:avLst>
              <a:gd name="adj" fmla="val 6743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placeholder-sequencetext-diagram-rRE2um-1"/>
          <p:cNvSpPr/>
          <p:nvPr/>
        </p:nvSpPr>
        <p:spPr>
          <a:xfrm>
            <a:off x="5512073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 txBox="1"/>
          <p:nvPr/>
        </p:nvSpPr>
        <p:spPr>
          <a:xfrm>
            <a:off x="5617071" y="5631433"/>
            <a:ext cx="170929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2</a:t>
            </a:r>
            <a:endParaRPr lang="en-US" sz="1650" dirty="0"/>
          </a:p>
        </p:txBody>
      </p:sp>
      <p:sp>
        <p:nvSpPr>
          <p:cNvPr id="17" name="headingtext-diagram-rRE2um-1-2"/>
          <p:cNvSpPr txBox="1"/>
          <p:nvPr/>
        </p:nvSpPr>
        <p:spPr>
          <a:xfrm>
            <a:off x="5512073" y="6293421"/>
            <a:ext cx="28717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Embed With the Team</a:t>
            </a:r>
            <a:endParaRPr lang="en-US" sz="2100" dirty="0"/>
          </a:p>
        </p:txBody>
      </p:sp>
      <p:sp>
        <p:nvSpPr>
          <p:cNvPr id="18" name="bodytext-diagram-rRE2um-1-2"/>
          <p:cNvSpPr txBox="1"/>
          <p:nvPr/>
        </p:nvSpPr>
        <p:spPr>
          <a:xfrm>
            <a:off x="5512073" y="6728892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Integrate components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directly into the client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squad to ensure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alignment.</a:t>
            </a:r>
            <a:endParaRPr lang="en-US" sz="2100" dirty="0"/>
          </a:p>
        </p:txBody>
      </p:sp>
      <p:sp>
        <p:nvSpPr>
          <p:cNvPr id="19" name="placeholder-node-diagram-rRE2um-2"/>
          <p:cNvSpPr/>
          <p:nvPr/>
        </p:nvSpPr>
        <p:spPr>
          <a:xfrm>
            <a:off x="8883848" y="5264721"/>
            <a:ext cx="3448050" cy="3390900"/>
          </a:xfrm>
          <a:prstGeom prst="roundRect">
            <a:avLst>
              <a:gd name="adj" fmla="val 6742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/>
          <p:nvPr/>
        </p:nvSpPr>
        <p:spPr>
          <a:xfrm>
            <a:off x="8883848" y="5264721"/>
            <a:ext cx="3448050" cy="3390309"/>
          </a:xfrm>
          <a:prstGeom prst="roundRect">
            <a:avLst>
              <a:gd name="adj" fmla="val 6743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placeholder-sequencetext-diagram-rRE2um-2"/>
          <p:cNvSpPr/>
          <p:nvPr/>
        </p:nvSpPr>
        <p:spPr>
          <a:xfrm>
            <a:off x="9188648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::before"/>
          <p:cNvSpPr txBox="1"/>
          <p:nvPr/>
        </p:nvSpPr>
        <p:spPr>
          <a:xfrm>
            <a:off x="9291489" y="5631433"/>
            <a:ext cx="175319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3</a:t>
            </a:r>
            <a:endParaRPr lang="en-US" sz="1650" dirty="0"/>
          </a:p>
        </p:txBody>
      </p:sp>
      <p:sp>
        <p:nvSpPr>
          <p:cNvPr id="23" name="headingtext-diagram-rRE2um-2-3"/>
          <p:cNvSpPr txBox="1"/>
          <p:nvPr/>
        </p:nvSpPr>
        <p:spPr>
          <a:xfrm>
            <a:off x="9188648" y="6293421"/>
            <a:ext cx="28717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Build &amp; Integrate</a:t>
            </a:r>
            <a:endParaRPr lang="en-US" sz="2100" dirty="0"/>
          </a:p>
        </p:txBody>
      </p:sp>
      <p:sp>
        <p:nvSpPr>
          <p:cNvPr id="24" name="bodytext-diagram-rRE2um-2-3"/>
          <p:cNvSpPr txBox="1"/>
          <p:nvPr/>
        </p:nvSpPr>
        <p:spPr>
          <a:xfrm>
            <a:off x="9188648" y="6728892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Develop and snap-in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modular solutions into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existing tech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ecosystem.</a:t>
            </a:r>
            <a:endParaRPr lang="en-US" sz="2100" dirty="0"/>
          </a:p>
        </p:txBody>
      </p:sp>
      <p:sp>
        <p:nvSpPr>
          <p:cNvPr id="25" name="placeholder-node-diagram-rRE2um-3"/>
          <p:cNvSpPr/>
          <p:nvPr/>
        </p:nvSpPr>
        <p:spPr>
          <a:xfrm>
            <a:off x="12560498" y="5264721"/>
            <a:ext cx="3448050" cy="3381375"/>
          </a:xfrm>
          <a:prstGeom prst="roundRect">
            <a:avLst>
              <a:gd name="adj" fmla="val 676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::before"/>
          <p:cNvSpPr/>
          <p:nvPr/>
        </p:nvSpPr>
        <p:spPr>
          <a:xfrm>
            <a:off x="12560498" y="5264721"/>
            <a:ext cx="3448050" cy="3382347"/>
          </a:xfrm>
          <a:prstGeom prst="roundRect">
            <a:avLst>
              <a:gd name="adj" fmla="val 6759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placeholder-sequencetext-diagram-rRE2um-3"/>
          <p:cNvSpPr/>
          <p:nvPr/>
        </p:nvSpPr>
        <p:spPr>
          <a:xfrm>
            <a:off x="12865298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::before"/>
          <p:cNvSpPr txBox="1"/>
          <p:nvPr/>
        </p:nvSpPr>
        <p:spPr>
          <a:xfrm>
            <a:off x="12965609" y="5631433"/>
            <a:ext cx="180380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4</a:t>
            </a:r>
            <a:endParaRPr lang="en-US" sz="1650" dirty="0"/>
          </a:p>
        </p:txBody>
      </p:sp>
      <p:sp>
        <p:nvSpPr>
          <p:cNvPr id="29" name="headingtext-diagram-rRE2um-3-4"/>
          <p:cNvSpPr txBox="1"/>
          <p:nvPr/>
        </p:nvSpPr>
        <p:spPr>
          <a:xfrm>
            <a:off x="12865298" y="6293421"/>
            <a:ext cx="28717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Bridge to the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RheinWeg</a:t>
            </a:r>
            <a:endParaRPr lang="en-US" sz="2100" dirty="0"/>
          </a:p>
        </p:txBody>
      </p:sp>
      <p:sp>
        <p:nvSpPr>
          <p:cNvPr id="30" name="bodytext-diagram-rRE2um-3-4"/>
          <p:cNvSpPr txBox="1"/>
          <p:nvPr/>
        </p:nvSpPr>
        <p:spPr>
          <a:xfrm>
            <a:off x="12865298" y="7126263"/>
            <a:ext cx="2871788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Finalize integration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and establish the path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for sustained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deployment.</a:t>
            </a:r>
            <a:endParaRPr lang="en-US" sz="2100" dirty="0"/>
          </a:p>
        </p:txBody>
      </p:sp>
      <p:sp>
        <p:nvSpPr>
          <p:cNvPr id="31" name="-452"/>
          <p:cNvSpPr txBox="1"/>
          <p:nvPr/>
        </p:nvSpPr>
        <p:spPr>
          <a:xfrm>
            <a:off x="16483459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32" name="-460"/>
          <p:cNvSpPr txBox="1"/>
          <p:nvPr/>
        </p:nvSpPr>
        <p:spPr>
          <a:xfrm>
            <a:off x="17335798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7d8c187-5f53-405f-8ece-8ea2fa232d1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Foster a Culture of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the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 era - 1</a:t>
            </a:r>
            <a:endParaRPr lang="en-US" sz="5400" dirty="0"/>
          </a:p>
        </p:txBody>
      </p:sp>
      <p:pic>
        <p:nvPicPr>
          <p:cNvPr id="6" name="outlinecirclepoints4node-layer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20641"/>
            <a:ext cx="16763926" cy="6286426"/>
          </a:xfrm>
          <a:prstGeom prst="rect">
            <a:avLst/>
          </a:prstGeom>
        </p:spPr>
      </p:pic>
      <p:pic>
        <p:nvPicPr>
          <p:cNvPr id="7" name="c7d8c187-5f53-405f-8ece-8ea2fa232d16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270" y="3895725"/>
            <a:ext cx="457200" cy="457200"/>
          </a:xfrm>
          <a:prstGeom prst="rect">
            <a:avLst/>
          </a:prstGeom>
        </p:spPr>
      </p:pic>
      <p:pic>
        <p:nvPicPr>
          <p:cNvPr id="8" name="c7d8c187-5f53-405f-8ece-8ea2fa232d16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0805" y="3895725"/>
            <a:ext cx="457200" cy="457200"/>
          </a:xfrm>
          <a:prstGeom prst="rect">
            <a:avLst/>
          </a:prstGeom>
        </p:spPr>
      </p:pic>
      <p:pic>
        <p:nvPicPr>
          <p:cNvPr id="9" name="c7d8c187-5f53-405f-8ece-8ea2fa232d16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0805" y="8372475"/>
            <a:ext cx="457200" cy="457200"/>
          </a:xfrm>
          <a:prstGeom prst="rect">
            <a:avLst/>
          </a:prstGeom>
        </p:spPr>
      </p:pic>
      <p:pic>
        <p:nvPicPr>
          <p:cNvPr id="10" name="c7d8c187-5f53-405f-8ece-8ea2fa232d16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3270" y="8372475"/>
            <a:ext cx="457200" cy="457200"/>
          </a:xfrm>
          <a:prstGeom prst="rect">
            <a:avLst/>
          </a:prstGeom>
        </p:spPr>
      </p:pic>
      <p:sp>
        <p:nvSpPr>
          <p:cNvPr id="11" name="headingtext-diagram-I98VFk-0-1"/>
          <p:cNvSpPr txBox="1"/>
          <p:nvPr/>
        </p:nvSpPr>
        <p:spPr>
          <a:xfrm>
            <a:off x="762000" y="3846761"/>
            <a:ext cx="55483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AI-First Mindset</a:t>
            </a:r>
            <a:endParaRPr lang="en-US" sz="2100" dirty="0"/>
          </a:p>
        </p:txBody>
      </p:sp>
      <p:sp>
        <p:nvSpPr>
          <p:cNvPr id="12" name="headingtext-diagram-I98VFk-1-2"/>
          <p:cNvSpPr txBox="1"/>
          <p:nvPr/>
        </p:nvSpPr>
        <p:spPr>
          <a:xfrm>
            <a:off x="11997630" y="3846761"/>
            <a:ext cx="55578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Continuous Learning</a:t>
            </a:r>
            <a:endParaRPr lang="en-US" sz="2100" dirty="0"/>
          </a:p>
        </p:txBody>
      </p:sp>
      <p:sp>
        <p:nvSpPr>
          <p:cNvPr id="13" name="headingtext-diagram-I98VFk-2-3"/>
          <p:cNvSpPr txBox="1"/>
          <p:nvPr/>
        </p:nvSpPr>
        <p:spPr>
          <a:xfrm>
            <a:off x="11997630" y="8037761"/>
            <a:ext cx="55578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Change Agility</a:t>
            </a:r>
            <a:endParaRPr lang="en-US" sz="2100" dirty="0"/>
          </a:p>
        </p:txBody>
      </p:sp>
      <p:sp>
        <p:nvSpPr>
          <p:cNvPr id="14" name="headingtext-diagram-I98VFk-3-4"/>
          <p:cNvSpPr txBox="1"/>
          <p:nvPr/>
        </p:nvSpPr>
        <p:spPr>
          <a:xfrm>
            <a:off x="762000" y="8037761"/>
            <a:ext cx="55483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Rapid Adaptation</a:t>
            </a:r>
            <a:endParaRPr lang="en-US" sz="2100" dirty="0"/>
          </a:p>
        </p:txBody>
      </p:sp>
      <p:sp>
        <p:nvSpPr>
          <p:cNvPr id="15" name="-440"/>
          <p:cNvSpPr txBox="1"/>
          <p:nvPr/>
        </p:nvSpPr>
        <p:spPr>
          <a:xfrm>
            <a:off x="164807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6" name="-401"/>
          <p:cNvSpPr txBox="1"/>
          <p:nvPr/>
        </p:nvSpPr>
        <p:spPr>
          <a:xfrm>
            <a:off x="17333044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09</a:t>
            </a:r>
            <a:endParaRPr lang="en-US" sz="1200" dirty="0"/>
          </a:p>
        </p:txBody>
      </p:sp>
      <p:sp>
        <p:nvSpPr>
          <p:cNvPr id="17" name="bodytext-diagram-oddHAX-0-1">
            <a:extLst>
              <a:ext uri="{FF2B5EF4-FFF2-40B4-BE49-F238E27FC236}">
                <a16:creationId xmlns:a16="http://schemas.microsoft.com/office/drawing/2014/main" id="{E7610360-DE7F-1FC2-6BEC-29667A4AA692}"/>
              </a:ext>
            </a:extLst>
          </p:cNvPr>
          <p:cNvSpPr txBox="1"/>
          <p:nvPr/>
        </p:nvSpPr>
        <p:spPr>
          <a:xfrm>
            <a:off x="1601092" y="4433802"/>
            <a:ext cx="4709221" cy="100000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Always consider how AI can assist,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automate, or optimize your daily work.</a:t>
            </a:r>
            <a:endParaRPr lang="en-US" sz="2100" dirty="0"/>
          </a:p>
        </p:txBody>
      </p:sp>
      <p:sp>
        <p:nvSpPr>
          <p:cNvPr id="18" name="bodytext-diagram-oddHAX-1-2">
            <a:extLst>
              <a:ext uri="{FF2B5EF4-FFF2-40B4-BE49-F238E27FC236}">
                <a16:creationId xmlns:a16="http://schemas.microsoft.com/office/drawing/2014/main" id="{01A04D98-7256-AD6C-0533-A9007C57F52D}"/>
              </a:ext>
            </a:extLst>
          </p:cNvPr>
          <p:cNvSpPr txBox="1"/>
          <p:nvPr/>
        </p:nvSpPr>
        <p:spPr>
          <a:xfrm>
            <a:off x="12001537" y="4499116"/>
            <a:ext cx="5553931" cy="100000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Commit to ongoing personal and professional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growth to keep your skills sharp.</a:t>
            </a:r>
            <a:endParaRPr lang="en-US" sz="2100" dirty="0"/>
          </a:p>
        </p:txBody>
      </p:sp>
      <p:sp>
        <p:nvSpPr>
          <p:cNvPr id="19" name="bodytext-diagram-oddHAX-2-3">
            <a:extLst>
              <a:ext uri="{FF2B5EF4-FFF2-40B4-BE49-F238E27FC236}">
                <a16:creationId xmlns:a16="http://schemas.microsoft.com/office/drawing/2014/main" id="{B33B4CC4-278B-7BDB-9726-A873B03B9CD8}"/>
              </a:ext>
            </a:extLst>
          </p:cNvPr>
          <p:cNvSpPr txBox="1"/>
          <p:nvPr/>
        </p:nvSpPr>
        <p:spPr>
          <a:xfrm>
            <a:off x="11997630" y="8601075"/>
            <a:ext cx="5932714" cy="798027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Expect shifts and proactively prepare yourself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to pivot whenever necessary.</a:t>
            </a:r>
            <a:endParaRPr lang="en-US" sz="2100" dirty="0"/>
          </a:p>
        </p:txBody>
      </p:sp>
      <p:sp>
        <p:nvSpPr>
          <p:cNvPr id="20" name="bodytext-diagram-oddHAX-3-4">
            <a:extLst>
              <a:ext uri="{FF2B5EF4-FFF2-40B4-BE49-F238E27FC236}">
                <a16:creationId xmlns:a16="http://schemas.microsoft.com/office/drawing/2014/main" id="{613A6803-700D-B4B4-E584-E9DB8E0E94A1}"/>
              </a:ext>
            </a:extLst>
          </p:cNvPr>
          <p:cNvSpPr txBox="1">
            <a:spLocks/>
          </p:cNvSpPr>
          <p:nvPr/>
        </p:nvSpPr>
        <p:spPr>
          <a:xfrm>
            <a:off x="703149" y="8542150"/>
            <a:ext cx="5666014" cy="1212396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Thrive in a fast-evolving landscape by quickly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adjusting to new technologies, teams, </a:t>
            </a:r>
          </a:p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and strategies.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73875c-911c-4a35-810d-4aaf69ff2b11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Foster a Culture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of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 era - 2</a:t>
            </a:r>
            <a:endParaRPr lang="en-US" sz="5400" dirty="0"/>
          </a:p>
        </p:txBody>
      </p:sp>
      <p:pic>
        <p:nvPicPr>
          <p:cNvPr id="6" name="outlinecirclepoints3node-layer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20641"/>
            <a:ext cx="16763926" cy="6286426"/>
          </a:xfrm>
          <a:prstGeom prst="rect">
            <a:avLst/>
          </a:prstGeom>
        </p:spPr>
      </p:pic>
      <p:pic>
        <p:nvPicPr>
          <p:cNvPr id="7" name="ba73875c-911c-4a35-810d-4aaf69ff2b11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3895725"/>
            <a:ext cx="457200" cy="457200"/>
          </a:xfrm>
          <a:prstGeom prst="rect">
            <a:avLst/>
          </a:prstGeom>
        </p:spPr>
      </p:pic>
      <p:pic>
        <p:nvPicPr>
          <p:cNvPr id="8" name="ba73875c-911c-4a35-810d-4aaf69ff2b11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4325" y="6124575"/>
            <a:ext cx="477143" cy="477143"/>
          </a:xfrm>
          <a:prstGeom prst="rect">
            <a:avLst/>
          </a:prstGeom>
        </p:spPr>
      </p:pic>
      <p:pic>
        <p:nvPicPr>
          <p:cNvPr id="9" name="ba73875c-911c-4a35-810d-4aaf69ff2b11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693" y="8372475"/>
            <a:ext cx="457200" cy="457200"/>
          </a:xfrm>
          <a:prstGeom prst="rect">
            <a:avLst/>
          </a:prstGeom>
        </p:spPr>
      </p:pic>
      <p:sp>
        <p:nvSpPr>
          <p:cNvPr id="10" name="headingtext-diagram-FPG8hi-0-1"/>
          <p:cNvSpPr txBox="1"/>
          <p:nvPr/>
        </p:nvSpPr>
        <p:spPr>
          <a:xfrm>
            <a:off x="762000" y="3441427"/>
            <a:ext cx="5500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Pragmatic Execution</a:t>
            </a:r>
            <a:endParaRPr lang="en-US" sz="2100" dirty="0"/>
          </a:p>
        </p:txBody>
      </p:sp>
      <p:sp>
        <p:nvSpPr>
          <p:cNvPr id="11" name="bodytext-diagram-FPG8hi-0-1"/>
          <p:cNvSpPr txBox="1"/>
          <p:nvPr/>
        </p:nvSpPr>
        <p:spPr>
          <a:xfrm>
            <a:off x="762000" y="3876898"/>
            <a:ext cx="5500688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Prioritize modular components that deliver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immediate, measurable utility over over-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engineered builds.</a:t>
            </a:r>
            <a:endParaRPr lang="en-US" sz="2100" dirty="0"/>
          </a:p>
        </p:txBody>
      </p:sp>
      <p:sp>
        <p:nvSpPr>
          <p:cNvPr id="12" name="headingtext-diagram-FPG8hi-1-2"/>
          <p:cNvSpPr txBox="1"/>
          <p:nvPr/>
        </p:nvSpPr>
        <p:spPr>
          <a:xfrm>
            <a:off x="13015913" y="5334298"/>
            <a:ext cx="45481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Frictionless UX</a:t>
            </a:r>
            <a:endParaRPr lang="en-US" sz="2100" dirty="0"/>
          </a:p>
        </p:txBody>
      </p:sp>
      <p:sp>
        <p:nvSpPr>
          <p:cNvPr id="13" name="bodytext-diagram-FPG8hi-1-2"/>
          <p:cNvSpPr txBox="1"/>
          <p:nvPr/>
        </p:nvSpPr>
        <p:spPr>
          <a:xfrm>
            <a:off x="13015913" y="5769769"/>
            <a:ext cx="45481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Design snap-in workflows that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minimize complexity for the end-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user while maximizing system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performance.</a:t>
            </a:r>
            <a:endParaRPr lang="en-US" sz="2100" dirty="0"/>
          </a:p>
        </p:txBody>
      </p:sp>
      <p:sp>
        <p:nvSpPr>
          <p:cNvPr id="14" name="headingtext-diagram-FPG8hi-2-3"/>
          <p:cNvSpPr txBox="1"/>
          <p:nvPr/>
        </p:nvSpPr>
        <p:spPr>
          <a:xfrm>
            <a:off x="762000" y="7632427"/>
            <a:ext cx="5491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Radical Openness</a:t>
            </a:r>
            <a:endParaRPr lang="en-US" sz="2100" dirty="0"/>
          </a:p>
        </p:txBody>
      </p:sp>
      <p:sp>
        <p:nvSpPr>
          <p:cNvPr id="15" name="bodytext-diagram-FPG8hi-2-3"/>
          <p:cNvSpPr txBox="1"/>
          <p:nvPr/>
        </p:nvSpPr>
        <p:spPr>
          <a:xfrm>
            <a:off x="762000" y="8067898"/>
            <a:ext cx="5491163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Maintain a transparent ecosystem where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code and decisions are shared 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accelerate collective learning.</a:t>
            </a:r>
            <a:endParaRPr lang="en-US" sz="2100" dirty="0"/>
          </a:p>
        </p:txBody>
      </p:sp>
      <p:sp>
        <p:nvSpPr>
          <p:cNvPr id="16" name="-452"/>
          <p:cNvSpPr txBox="1"/>
          <p:nvPr/>
        </p:nvSpPr>
        <p:spPr>
          <a:xfrm>
            <a:off x="165060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7" name="-448"/>
          <p:cNvSpPr txBox="1"/>
          <p:nvPr/>
        </p:nvSpPr>
        <p:spPr>
          <a:xfrm>
            <a:off x="17358345" y="9654555"/>
            <a:ext cx="20478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12c1e3-af19-4b73-ae1b-355c51dcf60f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3441576"/>
            <a:ext cx="5824538" cy="3444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8780"/>
              </a:lnSpc>
              <a:buNone/>
            </a:pPr>
            <a:r>
              <a:rPr lang="en-US" sz="7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Tips for</a:t>
            </a:r>
            <a:r>
              <a:rPr lang="en-US" sz="7200" dirty="0">
                <a:solidFill>
                  <a:srgbClr val="000000"/>
                </a:solidFill>
              </a:rPr>
              <a:t>
</a:t>
            </a:r>
            <a:r>
              <a:rPr lang="en-US" altLang="en-US" sz="7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Claude</a:t>
            </a:r>
            <a:r>
              <a:rPr lang="en-US" sz="7200" dirty="0">
                <a:solidFill>
                  <a:srgbClr val="000000"/>
                </a:solidFill>
              </a:rPr>
              <a:t>
</a:t>
            </a:r>
            <a:r>
              <a:rPr lang="en-US" altLang="en-US" sz="7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Development</a:t>
            </a:r>
            <a:endParaRPr lang="en-US" sz="7200" dirty="0"/>
          </a:p>
        </p:txBody>
      </p:sp>
      <p:sp>
        <p:nvSpPr>
          <p:cNvPr id="6" name="node-diagram-NWrD1R-0"/>
          <p:cNvSpPr/>
          <p:nvPr/>
        </p:nvSpPr>
        <p:spPr>
          <a:xfrm>
            <a:off x="7315200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::before"/>
          <p:cNvSpPr/>
          <p:nvPr/>
        </p:nvSpPr>
        <p:spPr>
          <a:xfrm>
            <a:off x="7315200" y="762000"/>
            <a:ext cx="2362124" cy="4248150"/>
          </a:xfrm>
          <a:prstGeom prst="roundRect">
            <a:avLst>
              <a:gd name="adj" fmla="val 9678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8" name="ed12c1e3-af19-4b73-ae1b-355c51dcf60f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825" y="1114425"/>
            <a:ext cx="381000" cy="381000"/>
          </a:xfrm>
          <a:prstGeom prst="rect">
            <a:avLst/>
          </a:prstGeom>
        </p:spPr>
      </p:pic>
      <p:sp>
        <p:nvSpPr>
          <p:cNvPr id="9" name="headingtext-diagram-NWrD1R-0-1"/>
          <p:cNvSpPr txBox="1"/>
          <p:nvPr/>
        </p:nvSpPr>
        <p:spPr>
          <a:xfrm>
            <a:off x="7743825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Restart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Claude</a:t>
            </a:r>
            <a:endParaRPr lang="en-US" sz="2100" dirty="0"/>
          </a:p>
        </p:txBody>
      </p:sp>
      <p:sp>
        <p:nvSpPr>
          <p:cNvPr id="10" name="bodytext-diagram-NWrD1R-0-1"/>
          <p:cNvSpPr txBox="1"/>
          <p:nvPr/>
        </p:nvSpPr>
        <p:spPr>
          <a:xfrm>
            <a:off x="7743825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Save tokens,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avoid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hallucinations.</a:t>
            </a:r>
            <a:endParaRPr lang="en-US" sz="1800" dirty="0"/>
          </a:p>
        </p:txBody>
      </p:sp>
      <p:sp>
        <p:nvSpPr>
          <p:cNvPr id="11" name="node-diagram-NWrD1R-1"/>
          <p:cNvSpPr/>
          <p:nvPr/>
        </p:nvSpPr>
        <p:spPr>
          <a:xfrm>
            <a:off x="992497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992497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3" name="ed12c1e3-af19-4b73-ae1b-355c51dcf60f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601" y="1114425"/>
            <a:ext cx="381000" cy="381000"/>
          </a:xfrm>
          <a:prstGeom prst="rect">
            <a:avLst/>
          </a:prstGeom>
        </p:spPr>
      </p:pic>
      <p:sp>
        <p:nvSpPr>
          <p:cNvPr id="14" name="headingtext-diagram-NWrD1R-1-2"/>
          <p:cNvSpPr txBox="1"/>
          <p:nvPr/>
        </p:nvSpPr>
        <p:spPr>
          <a:xfrm>
            <a:off x="1035360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Use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/handoff</a:t>
            </a:r>
            <a:endParaRPr lang="en-US" sz="2100" dirty="0"/>
          </a:p>
        </p:txBody>
      </p:sp>
      <p:sp>
        <p:nvSpPr>
          <p:cNvPr id="15" name="bodytext-diagram-NWrD1R-1-2"/>
          <p:cNvSpPr txBox="1"/>
          <p:nvPr/>
        </p:nvSpPr>
        <p:spPr>
          <a:xfrm>
            <a:off x="1035360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Export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content 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docs as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needed.</a:t>
            </a:r>
            <a:endParaRPr lang="en-US" sz="1800" dirty="0"/>
          </a:p>
        </p:txBody>
      </p:sp>
      <p:sp>
        <p:nvSpPr>
          <p:cNvPr id="16" name="node-diagram-NWrD1R-2"/>
          <p:cNvSpPr/>
          <p:nvPr/>
        </p:nvSpPr>
        <p:spPr>
          <a:xfrm>
            <a:off x="1253482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::before"/>
          <p:cNvSpPr/>
          <p:nvPr/>
        </p:nvSpPr>
        <p:spPr>
          <a:xfrm>
            <a:off x="1253482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8" name="ed12c1e3-af19-4b73-ae1b-355c51dcf60f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3451" y="1114425"/>
            <a:ext cx="381000" cy="381000"/>
          </a:xfrm>
          <a:prstGeom prst="rect">
            <a:avLst/>
          </a:prstGeom>
        </p:spPr>
      </p:pic>
      <p:sp>
        <p:nvSpPr>
          <p:cNvPr id="19" name="headingtext-diagram-NWrD1R-2-3"/>
          <p:cNvSpPr txBox="1"/>
          <p:nvPr/>
        </p:nvSpPr>
        <p:spPr>
          <a:xfrm>
            <a:off x="1296345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Plugins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and hooks</a:t>
            </a:r>
            <a:endParaRPr lang="en-US" sz="2100" dirty="0"/>
          </a:p>
        </p:txBody>
      </p:sp>
      <p:sp>
        <p:nvSpPr>
          <p:cNvPr id="20" name="bodytext-diagram-NWrD1R-2-3"/>
          <p:cNvSpPr txBox="1"/>
          <p:nvPr/>
        </p:nvSpPr>
        <p:spPr>
          <a:xfrm>
            <a:off x="1296345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Leverage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Caveman, rtk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for tokens.</a:t>
            </a:r>
            <a:endParaRPr lang="en-US" sz="1800" dirty="0"/>
          </a:p>
        </p:txBody>
      </p:sp>
      <p:sp>
        <p:nvSpPr>
          <p:cNvPr id="21" name="node-diagram-NWrD1R-3"/>
          <p:cNvSpPr/>
          <p:nvPr/>
        </p:nvSpPr>
        <p:spPr>
          <a:xfrm>
            <a:off x="1514467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::before"/>
          <p:cNvSpPr/>
          <p:nvPr/>
        </p:nvSpPr>
        <p:spPr>
          <a:xfrm>
            <a:off x="1514467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3" name="ed12c1e3-af19-4b73-ae1b-355c51dcf60f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73301" y="1114425"/>
            <a:ext cx="381000" cy="381000"/>
          </a:xfrm>
          <a:prstGeom prst="rect">
            <a:avLst/>
          </a:prstGeom>
        </p:spPr>
      </p:pic>
      <p:sp>
        <p:nvSpPr>
          <p:cNvPr id="24" name="headingtext-diagram-NWrD1R-3-4"/>
          <p:cNvSpPr txBox="1"/>
          <p:nvPr/>
        </p:nvSpPr>
        <p:spPr>
          <a:xfrm>
            <a:off x="1557330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Prompt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generation</a:t>
            </a:r>
            <a:endParaRPr lang="en-US" sz="2100" dirty="0"/>
          </a:p>
        </p:txBody>
      </p:sp>
      <p:sp>
        <p:nvSpPr>
          <p:cNvPr id="25" name="bodytext-diagram-NWrD1R-3-4"/>
          <p:cNvSpPr txBox="1"/>
          <p:nvPr/>
        </p:nvSpPr>
        <p:spPr>
          <a:xfrm>
            <a:off x="1557330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Let the LLM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generate the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prompt.</a:t>
            </a:r>
            <a:endParaRPr lang="en-US" sz="1800" dirty="0"/>
          </a:p>
        </p:txBody>
      </p:sp>
      <p:sp>
        <p:nvSpPr>
          <p:cNvPr id="26" name="node-diagram-NWrD1R-4"/>
          <p:cNvSpPr/>
          <p:nvPr/>
        </p:nvSpPr>
        <p:spPr>
          <a:xfrm>
            <a:off x="7315200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::before"/>
          <p:cNvSpPr/>
          <p:nvPr/>
        </p:nvSpPr>
        <p:spPr>
          <a:xfrm>
            <a:off x="7315200" y="5257800"/>
            <a:ext cx="2362124" cy="4248150"/>
          </a:xfrm>
          <a:prstGeom prst="roundRect">
            <a:avLst>
              <a:gd name="adj" fmla="val 9678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8" name="ed12c1e3-af19-4b73-ae1b-355c51dcf60f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3825" y="5610225"/>
            <a:ext cx="381000" cy="381000"/>
          </a:xfrm>
          <a:prstGeom prst="rect">
            <a:avLst/>
          </a:prstGeom>
        </p:spPr>
      </p:pic>
      <p:sp>
        <p:nvSpPr>
          <p:cNvPr id="29" name="headingtext-diagram-NWrD1R-4-5"/>
          <p:cNvSpPr txBox="1"/>
          <p:nvPr/>
        </p:nvSpPr>
        <p:spPr>
          <a:xfrm>
            <a:off x="7743825" y="6334125"/>
            <a:ext cx="1557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Testing</a:t>
            </a:r>
            <a:endParaRPr lang="en-US" sz="2100" dirty="0"/>
          </a:p>
        </p:txBody>
      </p:sp>
      <p:sp>
        <p:nvSpPr>
          <p:cNvPr id="30" name="bodytext-diagram-NWrD1R-4-5"/>
          <p:cNvSpPr txBox="1"/>
          <p:nvPr/>
        </p:nvSpPr>
        <p:spPr>
          <a:xfrm>
            <a:off x="7743825" y="6769596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 unit/e2e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tests for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stability.</a:t>
            </a:r>
            <a:endParaRPr lang="en-US" sz="1800" dirty="0"/>
          </a:p>
        </p:txBody>
      </p:sp>
      <p:sp>
        <p:nvSpPr>
          <p:cNvPr id="31" name="node-diagram-NWrD1R-5"/>
          <p:cNvSpPr/>
          <p:nvPr/>
        </p:nvSpPr>
        <p:spPr>
          <a:xfrm>
            <a:off x="992497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::before"/>
          <p:cNvSpPr/>
          <p:nvPr/>
        </p:nvSpPr>
        <p:spPr>
          <a:xfrm>
            <a:off x="992497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3" name="ed12c1e3-af19-4b73-ae1b-355c51dcf60f-A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3601" y="5610225"/>
            <a:ext cx="381000" cy="381000"/>
          </a:xfrm>
          <a:prstGeom prst="rect">
            <a:avLst/>
          </a:prstGeom>
        </p:spPr>
      </p:pic>
      <p:sp>
        <p:nvSpPr>
          <p:cNvPr id="34" name="headingtext-diagram-NWrD1R-5-6"/>
          <p:cNvSpPr txBox="1"/>
          <p:nvPr/>
        </p:nvSpPr>
        <p:spPr>
          <a:xfrm>
            <a:off x="1035360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Git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workflow</a:t>
            </a:r>
            <a:endParaRPr lang="en-US" sz="2100" dirty="0"/>
          </a:p>
        </p:txBody>
      </p:sp>
      <p:sp>
        <p:nvSpPr>
          <p:cNvPr id="35" name="bodytext-diagram-NWrD1R-5-6"/>
          <p:cNvSpPr txBox="1"/>
          <p:nvPr/>
        </p:nvSpPr>
        <p:spPr>
          <a:xfrm>
            <a:off x="10353601" y="71669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 Git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worktrees or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branches.</a:t>
            </a:r>
            <a:endParaRPr lang="en-US" sz="1800" dirty="0"/>
          </a:p>
        </p:txBody>
      </p:sp>
      <p:sp>
        <p:nvSpPr>
          <p:cNvPr id="36" name="node-diagram-NWrD1R-6"/>
          <p:cNvSpPr/>
          <p:nvPr/>
        </p:nvSpPr>
        <p:spPr>
          <a:xfrm>
            <a:off x="1253482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::before"/>
          <p:cNvSpPr/>
          <p:nvPr/>
        </p:nvSpPr>
        <p:spPr>
          <a:xfrm>
            <a:off x="1253482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8" name="ed12c1e3-af19-4b73-ae1b-355c51dcf60f-A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3451" y="5610225"/>
            <a:ext cx="381000" cy="381000"/>
          </a:xfrm>
          <a:prstGeom prst="rect">
            <a:avLst/>
          </a:prstGeom>
        </p:spPr>
      </p:pic>
      <p:sp>
        <p:nvSpPr>
          <p:cNvPr id="39" name="headingtext-diagram-NWrD1R-6-7"/>
          <p:cNvSpPr txBox="1"/>
          <p:nvPr/>
        </p:nvSpPr>
        <p:spPr>
          <a:xfrm>
            <a:off x="1296345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Use a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container</a:t>
            </a:r>
            <a:endParaRPr lang="en-US" sz="2100" dirty="0"/>
          </a:p>
        </p:txBody>
      </p:sp>
      <p:sp>
        <p:nvSpPr>
          <p:cNvPr id="40" name="bodytext-diagram-NWrD1R-6-7"/>
          <p:cNvSpPr txBox="1"/>
          <p:nvPr/>
        </p:nvSpPr>
        <p:spPr>
          <a:xfrm>
            <a:off x="12963451" y="7166967"/>
            <a:ext cx="15573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Run AFK in a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container.</a:t>
            </a:r>
            <a:endParaRPr lang="en-US" sz="1800" dirty="0"/>
          </a:p>
        </p:txBody>
      </p:sp>
      <p:sp>
        <p:nvSpPr>
          <p:cNvPr id="41" name="node-diagram-NWrD1R-7"/>
          <p:cNvSpPr/>
          <p:nvPr/>
        </p:nvSpPr>
        <p:spPr>
          <a:xfrm>
            <a:off x="1514467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::before"/>
          <p:cNvSpPr/>
          <p:nvPr/>
        </p:nvSpPr>
        <p:spPr>
          <a:xfrm>
            <a:off x="1514467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3" name="ed12c1e3-af19-4b73-ae1b-355c51dcf60f-A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73301" y="5610225"/>
            <a:ext cx="381000" cy="381000"/>
          </a:xfrm>
          <a:prstGeom prst="rect">
            <a:avLst/>
          </a:prstGeom>
        </p:spPr>
      </p:pic>
      <p:sp>
        <p:nvSpPr>
          <p:cNvPr id="44" name="headingtext-diagram-NWrD1R-7-8"/>
          <p:cNvSpPr txBox="1"/>
          <p:nvPr/>
        </p:nvSpPr>
        <p:spPr>
          <a:xfrm>
            <a:off x="1557330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Manage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plugins</a:t>
            </a:r>
            <a:endParaRPr lang="en-US" sz="2100" dirty="0"/>
          </a:p>
        </p:txBody>
      </p:sp>
      <p:sp>
        <p:nvSpPr>
          <p:cNvPr id="45" name="bodytext-diagram-NWrD1R-7-8"/>
          <p:cNvSpPr txBox="1"/>
          <p:nvPr/>
        </p:nvSpPr>
        <p:spPr>
          <a:xfrm>
            <a:off x="15573301" y="7166967"/>
            <a:ext cx="1557338" cy="1529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Disable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unused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Claude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plugins.</a:t>
            </a:r>
            <a:endParaRPr lang="en-US" sz="1800" dirty="0"/>
          </a:p>
        </p:txBody>
      </p:sp>
      <p:sp>
        <p:nvSpPr>
          <p:cNvPr id="46" name="-462"/>
          <p:cNvSpPr txBox="1"/>
          <p:nvPr/>
        </p:nvSpPr>
        <p:spPr>
          <a:xfrm>
            <a:off x="1653584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47" name="-453"/>
          <p:cNvSpPr txBox="1"/>
          <p:nvPr/>
        </p:nvSpPr>
        <p:spPr>
          <a:xfrm>
            <a:off x="17388185" y="9654555"/>
            <a:ext cx="16668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e617f6-e646-4aac-9714-954aa4ddf5f8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762000"/>
            <a:ext cx="167973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Vision of next </a:t>
            </a:r>
            <a:r>
              <a:rPr lang="en-US" altLang="en-US" sz="4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era development</a:t>
            </a:r>
            <a:endParaRPr lang="en-US" sz="4200" dirty="0"/>
          </a:p>
        </p:txBody>
      </p:sp>
      <p:sp>
        <p:nvSpPr>
          <p:cNvPr id="6" name="SubTitle"/>
          <p:cNvSpPr txBox="1"/>
          <p:nvPr/>
        </p:nvSpPr>
        <p:spPr>
          <a:xfrm>
            <a:off x="762000" y="1767780"/>
            <a:ext cx="1679733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Thank you for the discussion on the vision of next AI era development</a:t>
            </a:r>
            <a:endParaRPr lang="en-US" sz="2100" dirty="0"/>
          </a:p>
        </p:txBody>
      </p:sp>
      <p:sp>
        <p:nvSpPr>
          <p:cNvPr id="7" name="headingtext-diagram-0yfPGW-0-1"/>
          <p:cNvSpPr txBox="1"/>
          <p:nvPr/>
        </p:nvSpPr>
        <p:spPr>
          <a:xfrm>
            <a:off x="990600" y="3009900"/>
            <a:ext cx="5014913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Development with AI agent end-to-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end support</a:t>
            </a:r>
            <a:endParaRPr lang="en-US" sz="1800" dirty="0"/>
          </a:p>
        </p:txBody>
      </p:sp>
      <p:pic>
        <p:nvPicPr>
          <p:cNvPr id="8" name="img-image-diagram-0yfPGW-0" descr="preencoded.png"/>
          <p:cNvPicPr>
            <a:picLocks noChangeAspect="1"/>
          </p:cNvPicPr>
          <p:nvPr/>
        </p:nvPicPr>
        <p:blipFill>
          <a:blip r:embed="rId4"/>
          <a:srcRect t="16351" b="16359"/>
          <a:stretch>
            <a:fillRect/>
          </a:stretch>
        </p:blipFill>
        <p:spPr>
          <a:xfrm>
            <a:off x="762000" y="4038600"/>
            <a:ext cx="5435575" cy="5486400"/>
          </a:xfrm>
          <a:prstGeom prst="rect">
            <a:avLst/>
          </a:prstGeom>
        </p:spPr>
      </p:pic>
      <p:sp>
        <p:nvSpPr>
          <p:cNvPr id="9" name="headingtext-diagram-0yfPGW-1-2"/>
          <p:cNvSpPr txBox="1"/>
          <p:nvPr/>
        </p:nvSpPr>
        <p:spPr>
          <a:xfrm>
            <a:off x="6845275" y="3009900"/>
            <a:ext cx="188118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AFK methodology</a:t>
            </a:r>
            <a:endParaRPr lang="en-US" sz="1800" dirty="0"/>
          </a:p>
        </p:txBody>
      </p:sp>
      <p:pic>
        <p:nvPicPr>
          <p:cNvPr id="10" name="img-image-diagram-0yfPGW-1" descr="preencoded.png"/>
          <p:cNvPicPr>
            <a:picLocks noChangeAspect="1"/>
          </p:cNvPicPr>
          <p:nvPr/>
        </p:nvPicPr>
        <p:blipFill>
          <a:blip r:embed="rId5"/>
          <a:srcRect t="10764" b="10731"/>
          <a:stretch>
            <a:fillRect/>
          </a:stretch>
        </p:blipFill>
        <p:spPr>
          <a:xfrm>
            <a:off x="6616675" y="4038600"/>
            <a:ext cx="5435575" cy="5486400"/>
          </a:xfrm>
          <a:prstGeom prst="rect">
            <a:avLst/>
          </a:prstGeom>
        </p:spPr>
      </p:pic>
      <p:sp>
        <p:nvSpPr>
          <p:cNvPr id="11" name="headingtext-diagram-0yfPGW-2-3"/>
          <p:cNvSpPr txBox="1"/>
          <p:nvPr/>
        </p:nvSpPr>
        <p:spPr>
          <a:xfrm>
            <a:off x="12699950" y="3009900"/>
            <a:ext cx="2176463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Agents orchestration</a:t>
            </a:r>
            <a:endParaRPr lang="en-US" sz="1800" dirty="0"/>
          </a:p>
        </p:txBody>
      </p:sp>
      <p:pic>
        <p:nvPicPr>
          <p:cNvPr id="12" name="img-image-diagram-0yfPGW-2" descr="preencoded.png"/>
          <p:cNvPicPr>
            <a:picLocks noChangeAspect="1"/>
          </p:cNvPicPr>
          <p:nvPr/>
        </p:nvPicPr>
        <p:blipFill>
          <a:blip r:embed="rId6"/>
          <a:srcRect t="10764" b="10731"/>
          <a:stretch>
            <a:fillRect/>
          </a:stretch>
        </p:blipFill>
        <p:spPr>
          <a:xfrm>
            <a:off x="12471350" y="4038600"/>
            <a:ext cx="5435575" cy="5486400"/>
          </a:xfrm>
          <a:prstGeom prst="rect">
            <a:avLst/>
          </a:prstGeom>
        </p:spPr>
      </p:pic>
      <p:sp>
        <p:nvSpPr>
          <p:cNvPr id="13" name="-459"/>
          <p:cNvSpPr txBox="1"/>
          <p:nvPr/>
        </p:nvSpPr>
        <p:spPr>
          <a:xfrm>
            <a:off x="1651419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4" name="-489"/>
          <p:cNvSpPr txBox="1"/>
          <p:nvPr/>
        </p:nvSpPr>
        <p:spPr>
          <a:xfrm>
            <a:off x="17366531" y="9654555"/>
            <a:ext cx="195263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783</Words>
  <Application>Microsoft Macintosh PowerPoint</Application>
  <PresentationFormat>Custom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Arial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Version:1.4.1</dc:title>
  <dc:subject> </dc:subject>
  <dc:creator>Presentations.AI</dc:creator>
  <cp:lastModifiedBy>Han Yang</cp:lastModifiedBy>
  <cp:revision>6</cp:revision>
  <dcterms:created xsi:type="dcterms:W3CDTF">2026-08-05T07:55:49Z</dcterms:created>
  <dcterms:modified xsi:type="dcterms:W3CDTF">2026-08-07T09:04:57Z</dcterms:modified>
</cp:coreProperties>
</file>